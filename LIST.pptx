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94" r:id="rId4"/>
  </p:sldMasterIdLst>
  <p:notesMasterIdLst>
    <p:notesMasterId r:id="rId10"/>
  </p:notesMasterIdLst>
  <p:handoutMasterIdLst>
    <p:handoutMasterId r:id="rId11"/>
  </p:handoutMasterIdLst>
  <p:sldIdLst>
    <p:sldId id="256" r:id="rId5"/>
    <p:sldId id="268" r:id="rId6"/>
    <p:sldId id="269" r:id="rId7"/>
    <p:sldId id="266"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67463" autoAdjust="0"/>
  </p:normalViewPr>
  <p:slideViewPr>
    <p:cSldViewPr snapToGrid="0">
      <p:cViewPr varScale="1">
        <p:scale>
          <a:sx n="91" d="100"/>
          <a:sy n="91" d="100"/>
        </p:scale>
        <p:origin x="534" y="108"/>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12/2/2025</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12/2/2025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2</a:t>
            </a:fld>
            <a:endParaRPr lang="en-US" dirty="0"/>
          </a:p>
        </p:txBody>
      </p:sp>
    </p:spTree>
    <p:extLst>
      <p:ext uri="{BB962C8B-B14F-4D97-AF65-F5344CB8AC3E}">
        <p14:creationId xmlns:p14="http://schemas.microsoft.com/office/powerpoint/2010/main" val="4192102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3</a:t>
            </a:fld>
            <a:endParaRPr lang="en-US" dirty="0"/>
          </a:p>
        </p:txBody>
      </p:sp>
    </p:spTree>
    <p:extLst>
      <p:ext uri="{BB962C8B-B14F-4D97-AF65-F5344CB8AC3E}">
        <p14:creationId xmlns:p14="http://schemas.microsoft.com/office/powerpoint/2010/main" val="3871000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4</a:t>
            </a:fld>
            <a:endParaRPr lang="en-US" dirty="0"/>
          </a:p>
        </p:txBody>
      </p:sp>
    </p:spTree>
    <p:extLst>
      <p:ext uri="{BB962C8B-B14F-4D97-AF65-F5344CB8AC3E}">
        <p14:creationId xmlns:p14="http://schemas.microsoft.com/office/powerpoint/2010/main" val="2295961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Now, that you have narrowed your topic, you will want to organize your research in a structure that works.  There are some common organizational patterns based on the kind of research you are doing.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Organizational Structures: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Cause and Effect- this kind of structure is great for explaining the causes and effects of a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Compare and Contrast- in this pattern you highlight the similarities and differences of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Explain process- this structure is great for outlining a series of steps to follow;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Definition- if you want to make sure your audience understands what something is using illustrations, meanings, clarifying misconceptions, you may want to use this structure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Classification- a common organizational structure is grouping like topics or facts from the research together.  For instance, in the internet safety about social media apps, you may organize the research where you look at each social media app one at a time</a:t>
            </a:r>
          </a:p>
        </p:txBody>
      </p:sp>
      <p:sp>
        <p:nvSpPr>
          <p:cNvPr id="4" name="Slide Number Placeholder 3"/>
          <p:cNvSpPr>
            <a:spLocks noGrp="1"/>
          </p:cNvSpPr>
          <p:nvPr>
            <p:ph type="sldNum" sz="quarter" idx="10"/>
          </p:nvPr>
        </p:nvSpPr>
        <p:spPr/>
        <p:txBody>
          <a:bodyPr/>
          <a:lstStyle/>
          <a:p>
            <a:fld id="{BC849E9A-41F7-4779-A581-48A7C374A227}" type="slidenum">
              <a:rPr lang="en-US" smtClean="0"/>
              <a:t>5</a:t>
            </a:fld>
            <a:endParaRPr lang="en-US" dirty="0"/>
          </a:p>
        </p:txBody>
      </p:sp>
    </p:spTree>
    <p:extLst>
      <p:ext uri="{BB962C8B-B14F-4D97-AF65-F5344CB8AC3E}">
        <p14:creationId xmlns:p14="http://schemas.microsoft.com/office/powerpoint/2010/main" val="1825341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495891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32848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987089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950423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36935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125886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668451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750872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095681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541196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694417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AF1B4E-90EC-4A51-B6E5-B702C054ECB0}" type="slidenum">
              <a:rPr lang="en-US" smtClean="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858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786328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75992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07530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425363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ECF21A4-E71B-4D3A-AF45-E989C23A7BB1}"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51049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ECF21A4-E71B-4D3A-AF45-E989C23A7BB1}" type="datetimeFigureOut">
              <a:rPr lang="en-US" smtClean="0"/>
              <a:t>12/2/2025</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1328987027"/>
      </p:ext>
    </p:extLst>
  </p:cSld>
  <p:clrMap bg1="dk1" tx1="lt1" bg2="dk2" tx2="lt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 id="2147483908" r:id="rId14"/>
    <p:sldLayoutId id="2147483909" r:id="rId15"/>
    <p:sldLayoutId id="2147483910" r:id="rId16"/>
    <p:sldLayoutId id="214748391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7.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4654295" y="4522156"/>
            <a:ext cx="2177429" cy="1363215"/>
          </a:xfrm>
        </p:spPr>
        <p:txBody>
          <a:bodyPr anchor="t">
            <a:noAutofit/>
          </a:bodyPr>
          <a:lstStyle/>
          <a:p>
            <a:pPr algn="l"/>
            <a:r>
              <a:rPr lang="en-US" sz="8800" b="1" i="1" dirty="0" smtClean="0">
                <a:solidFill>
                  <a:schemeClr val="accent1">
                    <a:lumMod val="40000"/>
                    <a:lumOff val="60000"/>
                  </a:schemeClr>
                </a:solidFill>
                <a:latin typeface="Franklin Gothic Book" panose="020B0503020102020204" pitchFamily="34" charset="0"/>
                <a:cs typeface="Segoe UI" panose="020B0502040204020203" pitchFamily="34" charset="0"/>
              </a:rPr>
              <a:t>list</a:t>
            </a:r>
            <a:endParaRPr lang="en-US" sz="8800" b="1" i="1" dirty="0">
              <a:solidFill>
                <a:schemeClr val="accent1">
                  <a:lumMod val="40000"/>
                  <a:lumOff val="60000"/>
                </a:schemeClr>
              </a:solidFill>
              <a:latin typeface="Franklin Gothic Book" panose="020B0503020102020204" pitchFamily="34" charset="0"/>
              <a:cs typeface="Segoe UI" panose="020B0502040204020203" pitchFamily="34" charset="0"/>
            </a:endParaRPr>
          </a:p>
        </p:txBody>
      </p: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2725810" y="2588599"/>
            <a:ext cx="7703900" cy="1401321"/>
          </a:xfrm>
        </p:spPr>
        <p:txBody>
          <a:bodyPr anchor="b">
            <a:normAutofit/>
          </a:bodyPr>
          <a:lstStyle/>
          <a:p>
            <a:r>
              <a:rPr lang="en-US" sz="5400" dirty="0" smtClean="0">
                <a:latin typeface="Franklin Gothic Book" panose="020B0503020102020204" pitchFamily="34" charset="0"/>
              </a:rPr>
              <a:t>Python presentation</a:t>
            </a:r>
            <a:endParaRPr lang="en-US" sz="5400" dirty="0">
              <a:latin typeface="Franklin Gothic Book" panose="020B0503020102020204" pitchFamily="34" charset="0"/>
            </a:endParaRPr>
          </a:p>
        </p:txBody>
      </p: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2385250" y="164573"/>
            <a:ext cx="1636279" cy="1636279"/>
          </a:xfrm>
          <a:prstGeom prst="rect">
            <a:avLst/>
          </a:prstGeom>
        </p:spPr>
      </p:pic>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980302" y="1293093"/>
            <a:ext cx="1827742" cy="1827742"/>
          </a:xfrm>
          <a:prstGeom prst="rect">
            <a:avLst/>
          </a:prstGeom>
        </p:spPr>
      </p:pic>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30924" y="3621724"/>
            <a:ext cx="2594886" cy="2594886"/>
          </a:xfrm>
          <a:prstGeom prst="rect">
            <a:avLst/>
          </a:prstGeom>
        </p:spPr>
      </p:pic>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9725024" y="327889"/>
            <a:ext cx="2260711" cy="2260711"/>
          </a:xfrm>
          <a:prstGeom prst="rect">
            <a:avLst/>
          </a:prstGeom>
        </p:spPr>
      </p:pic>
      <p:sp>
        <p:nvSpPr>
          <p:cNvPr id="4" name="TextBox 3"/>
          <p:cNvSpPr txBox="1"/>
          <p:nvPr/>
        </p:nvSpPr>
        <p:spPr>
          <a:xfrm>
            <a:off x="9249104" y="5285426"/>
            <a:ext cx="3783724" cy="1200329"/>
          </a:xfrm>
          <a:prstGeom prst="rect">
            <a:avLst/>
          </a:prstGeom>
          <a:noFill/>
        </p:spPr>
        <p:txBody>
          <a:bodyPr wrap="square" rtlCol="0">
            <a:spAutoFit/>
          </a:bodyPr>
          <a:lstStyle/>
          <a:p>
            <a:r>
              <a:rPr lang="en-GB" b="1" dirty="0" smtClean="0">
                <a:solidFill>
                  <a:schemeClr val="accent4">
                    <a:lumMod val="40000"/>
                    <a:lumOff val="60000"/>
                  </a:schemeClr>
                </a:solidFill>
              </a:rPr>
              <a:t>PRESENTED BY :</a:t>
            </a:r>
          </a:p>
          <a:p>
            <a:r>
              <a:rPr lang="en-GB" b="1" dirty="0" smtClean="0">
                <a:solidFill>
                  <a:schemeClr val="accent4">
                    <a:lumMod val="40000"/>
                    <a:lumOff val="60000"/>
                  </a:schemeClr>
                </a:solidFill>
              </a:rPr>
              <a:t>NITYA SHUKLA </a:t>
            </a:r>
          </a:p>
          <a:p>
            <a:r>
              <a:rPr lang="en-GB" b="1" dirty="0" smtClean="0">
                <a:solidFill>
                  <a:schemeClr val="accent4">
                    <a:lumMod val="40000"/>
                    <a:lumOff val="60000"/>
                  </a:schemeClr>
                </a:solidFill>
              </a:rPr>
              <a:t>SHUBHI MISHRA </a:t>
            </a:r>
          </a:p>
          <a:p>
            <a:r>
              <a:rPr lang="en-GB" b="1" dirty="0" smtClean="0">
                <a:solidFill>
                  <a:schemeClr val="accent4">
                    <a:lumMod val="40000"/>
                    <a:lumOff val="60000"/>
                  </a:schemeClr>
                </a:solidFill>
              </a:rPr>
              <a:t>SWATI CHATURVEDI</a:t>
            </a:r>
          </a:p>
        </p:txBody>
      </p:sp>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p:cTn id="17"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8"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19"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20" dur="1000"/>
                                        <p:tgtEl>
                                          <p:spTgt spid="4">
                                            <p:txEl>
                                              <p:pRg st="0" end="0"/>
                                            </p:txEl>
                                          </p:spTgt>
                                        </p:tgtEl>
                                      </p:cBhvr>
                                    </p:animEffect>
                                  </p:childTnLst>
                                </p:cTn>
                              </p:par>
                              <p:par>
                                <p:cTn id="21" presetID="31" presetClass="entr" presetSubtype="0" fill="hold"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 calcmode="lin" valueType="num">
                                      <p:cBhvr>
                                        <p:cTn id="23"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4">
                                            <p:txEl>
                                              <p:pRg st="1" end="1"/>
                                            </p:txEl>
                                          </p:spTgt>
                                        </p:tgtEl>
                                      </p:cBhvr>
                                    </p:animEffect>
                                  </p:childTnLst>
                                </p:cTn>
                              </p:par>
                              <p:par>
                                <p:cTn id="27" presetID="31" presetClass="entr" presetSubtype="0" fill="hold"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 calcmode="lin" valueType="num">
                                      <p:cBhvr>
                                        <p:cTn id="29" dur="1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30" dur="1000" fill="hold"/>
                                        <p:tgtEl>
                                          <p:spTgt spid="4">
                                            <p:txEl>
                                              <p:pRg st="2" end="2"/>
                                            </p:txEl>
                                          </p:spTgt>
                                        </p:tgtEl>
                                        <p:attrNameLst>
                                          <p:attrName>ppt_h</p:attrName>
                                        </p:attrNameLst>
                                      </p:cBhvr>
                                      <p:tavLst>
                                        <p:tav tm="0">
                                          <p:val>
                                            <p:fltVal val="0"/>
                                          </p:val>
                                        </p:tav>
                                        <p:tav tm="100000">
                                          <p:val>
                                            <p:strVal val="#ppt_h"/>
                                          </p:val>
                                        </p:tav>
                                      </p:tavLst>
                                    </p:anim>
                                    <p:anim calcmode="lin" valueType="num">
                                      <p:cBhvr>
                                        <p:cTn id="31" dur="1000" fill="hold"/>
                                        <p:tgtEl>
                                          <p:spTgt spid="4">
                                            <p:txEl>
                                              <p:pRg st="2" end="2"/>
                                            </p:txEl>
                                          </p:spTgt>
                                        </p:tgtEl>
                                        <p:attrNameLst>
                                          <p:attrName>style.rotation</p:attrName>
                                        </p:attrNameLst>
                                      </p:cBhvr>
                                      <p:tavLst>
                                        <p:tav tm="0">
                                          <p:val>
                                            <p:fltVal val="90"/>
                                          </p:val>
                                        </p:tav>
                                        <p:tav tm="100000">
                                          <p:val>
                                            <p:fltVal val="0"/>
                                          </p:val>
                                        </p:tav>
                                      </p:tavLst>
                                    </p:anim>
                                    <p:animEffect transition="in" filter="fade">
                                      <p:cBhvr>
                                        <p:cTn id="32" dur="1000"/>
                                        <p:tgtEl>
                                          <p:spTgt spid="4">
                                            <p:txEl>
                                              <p:pRg st="2" end="2"/>
                                            </p:txEl>
                                          </p:spTgt>
                                        </p:tgtEl>
                                      </p:cBhvr>
                                    </p:animEffect>
                                  </p:childTnLst>
                                </p:cTn>
                              </p:par>
                              <p:par>
                                <p:cTn id="33" presetID="31" presetClass="entr" presetSubtype="0"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 calcmode="lin" valueType="num">
                                      <p:cBhvr>
                                        <p:cTn id="35" dur="1000" fill="hold"/>
                                        <p:tgtEl>
                                          <p:spTgt spid="4">
                                            <p:txEl>
                                              <p:pRg st="3" end="3"/>
                                            </p:txEl>
                                          </p:spTgt>
                                        </p:tgtEl>
                                        <p:attrNameLst>
                                          <p:attrName>ppt_w</p:attrName>
                                        </p:attrNameLst>
                                      </p:cBhvr>
                                      <p:tavLst>
                                        <p:tav tm="0">
                                          <p:val>
                                            <p:fltVal val="0"/>
                                          </p:val>
                                        </p:tav>
                                        <p:tav tm="100000">
                                          <p:val>
                                            <p:strVal val="#ppt_w"/>
                                          </p:val>
                                        </p:tav>
                                      </p:tavLst>
                                    </p:anim>
                                    <p:anim calcmode="lin" valueType="num">
                                      <p:cBhvr>
                                        <p:cTn id="36" dur="1000" fill="hold"/>
                                        <p:tgtEl>
                                          <p:spTgt spid="4">
                                            <p:txEl>
                                              <p:pRg st="3" end="3"/>
                                            </p:txEl>
                                          </p:spTgt>
                                        </p:tgtEl>
                                        <p:attrNameLst>
                                          <p:attrName>ppt_h</p:attrName>
                                        </p:attrNameLst>
                                      </p:cBhvr>
                                      <p:tavLst>
                                        <p:tav tm="0">
                                          <p:val>
                                            <p:fltVal val="0"/>
                                          </p:val>
                                        </p:tav>
                                        <p:tav tm="100000">
                                          <p:val>
                                            <p:strVal val="#ppt_h"/>
                                          </p:val>
                                        </p:tav>
                                      </p:tavLst>
                                    </p:anim>
                                    <p:anim calcmode="lin" valueType="num">
                                      <p:cBhvr>
                                        <p:cTn id="37" dur="1000" fill="hold"/>
                                        <p:tgtEl>
                                          <p:spTgt spid="4">
                                            <p:txEl>
                                              <p:pRg st="3" end="3"/>
                                            </p:txEl>
                                          </p:spTgt>
                                        </p:tgtEl>
                                        <p:attrNameLst>
                                          <p:attrName>style.rotation</p:attrName>
                                        </p:attrNameLst>
                                      </p:cBhvr>
                                      <p:tavLst>
                                        <p:tav tm="0">
                                          <p:val>
                                            <p:fltVal val="90"/>
                                          </p:val>
                                        </p:tav>
                                        <p:tav tm="100000">
                                          <p:val>
                                            <p:fltVal val="0"/>
                                          </p:val>
                                        </p:tav>
                                      </p:tavLst>
                                    </p:anim>
                                    <p:animEffect transition="in" filter="fade">
                                      <p:cBhvr>
                                        <p:cTn id="38"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824B-4279-4D47-92DD-71F5353FAA23}"/>
              </a:ext>
            </a:extLst>
          </p:cNvPr>
          <p:cNvSpPr>
            <a:spLocks noGrp="1"/>
          </p:cNvSpPr>
          <p:nvPr>
            <p:ph type="title"/>
          </p:nvPr>
        </p:nvSpPr>
        <p:spPr>
          <a:xfrm>
            <a:off x="4372303" y="-345434"/>
            <a:ext cx="3363312" cy="1325563"/>
          </a:xfrm>
        </p:spPr>
        <p:txBody>
          <a:bodyPr>
            <a:normAutofit fontScale="90000"/>
          </a:bodyPr>
          <a:lstStyle/>
          <a:p>
            <a:r>
              <a:rPr lang="en-US" dirty="0" smtClean="0">
                <a:latin typeface="Franklin Gothic Book" panose="020B0503020102020204" pitchFamily="34" charset="0"/>
                <a:cs typeface="Segoe UI" panose="020B0502040204020203" pitchFamily="34" charset="0"/>
              </a:rPr>
              <a:t>                                 </a:t>
            </a:r>
            <a:r>
              <a:rPr lang="en-US" sz="6600" b="1" dirty="0" smtClean="0">
                <a:solidFill>
                  <a:srgbClr val="FFFF00"/>
                </a:solidFill>
                <a:latin typeface="Franklin Gothic Book" panose="020B0503020102020204" pitchFamily="34" charset="0"/>
                <a:cs typeface="Segoe UI" panose="020B0502040204020203" pitchFamily="34" charset="0"/>
              </a:rPr>
              <a:t>LIST</a:t>
            </a:r>
            <a:endParaRPr lang="en-US" sz="6600" b="1" dirty="0">
              <a:solidFill>
                <a:srgbClr val="FFFF00"/>
              </a:solidFill>
              <a:latin typeface="Franklin Gothic Book" panose="020B0503020102020204" pitchFamily="34" charset="0"/>
              <a:cs typeface="Segoe UI" panose="020B0502040204020203" pitchFamily="34" charset="0"/>
            </a:endParaRPr>
          </a:p>
        </p:txBody>
      </p:sp>
      <p:sp>
        <p:nvSpPr>
          <p:cNvPr id="5" name="TextBox 4">
            <a:extLst>
              <a:ext uri="{FF2B5EF4-FFF2-40B4-BE49-F238E27FC236}">
                <a16:creationId xmlns:a16="http://schemas.microsoft.com/office/drawing/2014/main" id="{25AD4F61-E023-4530-BF03-8BC2D825D0BF}"/>
              </a:ext>
            </a:extLst>
          </p:cNvPr>
          <p:cNvSpPr txBox="1"/>
          <p:nvPr/>
        </p:nvSpPr>
        <p:spPr>
          <a:xfrm>
            <a:off x="1103838" y="1495136"/>
            <a:ext cx="4624300" cy="4801314"/>
          </a:xfrm>
          <a:prstGeom prst="rect">
            <a:avLst/>
          </a:prstGeom>
          <a:noFill/>
        </p:spPr>
        <p:txBody>
          <a:bodyPr wrap="square" rtlCol="0">
            <a:spAutoFit/>
          </a:bodyPr>
          <a:lstStyle/>
          <a:p>
            <a:r>
              <a:rPr lang="en-US" dirty="0" smtClean="0">
                <a:latin typeface="Segoe UI" panose="020B0502040204020203" pitchFamily="34" charset="0"/>
                <a:cs typeface="Segoe UI" panose="020B0502040204020203" pitchFamily="34" charset="0"/>
              </a:rPr>
              <a:t>A list is a collection of items stored in single variable. </a:t>
            </a:r>
          </a:p>
          <a:p>
            <a:endParaRPr lang="en-US" dirty="0">
              <a:latin typeface="Segoe UI" panose="020B0502040204020203" pitchFamily="34" charset="0"/>
              <a:cs typeface="Segoe UI" panose="020B0502040204020203" pitchFamily="34" charset="0"/>
            </a:endParaRPr>
          </a:p>
          <a:p>
            <a:endParaRPr lang="en-US" dirty="0" smtClean="0">
              <a:latin typeface="Segoe UI" panose="020B0502040204020203" pitchFamily="34" charset="0"/>
              <a:cs typeface="Segoe UI" panose="020B0502040204020203" pitchFamily="34" charset="0"/>
            </a:endParaRPr>
          </a:p>
          <a:p>
            <a:r>
              <a:rPr lang="en-US" dirty="0" smtClean="0">
                <a:latin typeface="Segoe UI" panose="020B0502040204020203" pitchFamily="34" charset="0"/>
                <a:cs typeface="Segoe UI" panose="020B0502040204020203" pitchFamily="34" charset="0"/>
              </a:rPr>
              <a:t>It can hold different types of data (number , strings , etc.) .</a:t>
            </a:r>
          </a:p>
          <a:p>
            <a:endParaRPr lang="en-US" dirty="0">
              <a:latin typeface="Segoe UI" panose="020B0502040204020203" pitchFamily="34" charset="0"/>
              <a:cs typeface="Segoe UI" panose="020B0502040204020203" pitchFamily="34" charset="0"/>
            </a:endParaRPr>
          </a:p>
          <a:p>
            <a:endParaRPr lang="en-US" dirty="0" smtClean="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a:p>
            <a:endParaRPr lang="en-US" dirty="0" smtClean="0">
              <a:latin typeface="Segoe UI" panose="020B0502040204020203" pitchFamily="34" charset="0"/>
              <a:cs typeface="Segoe UI" panose="020B0502040204020203" pitchFamily="34" charset="0"/>
            </a:endParaRPr>
          </a:p>
          <a:p>
            <a:r>
              <a:rPr lang="en-US" dirty="0" smtClean="0">
                <a:latin typeface="Segoe UI" panose="020B0502040204020203" pitchFamily="34" charset="0"/>
                <a:cs typeface="Segoe UI" panose="020B0502040204020203" pitchFamily="34" charset="0"/>
              </a:rPr>
              <a:t>EXAMPLE : </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 </a:t>
            </a:r>
            <a:r>
              <a:rPr lang="en-US" dirty="0" smtClean="0">
                <a:latin typeface="Segoe UI" panose="020B0502040204020203" pitchFamily="34" charset="0"/>
                <a:cs typeface="Segoe UI" panose="020B0502040204020203" pitchFamily="34" charset="0"/>
              </a:rPr>
              <a:t>    Fruits = [“</a:t>
            </a:r>
            <a:r>
              <a:rPr lang="en-US" dirty="0" err="1" smtClean="0">
                <a:latin typeface="Segoe UI" panose="020B0502040204020203" pitchFamily="34" charset="0"/>
                <a:cs typeface="Segoe UI" panose="020B0502040204020203" pitchFamily="34" charset="0"/>
              </a:rPr>
              <a:t>apple”,”banana”,”mango</a:t>
            </a:r>
            <a:r>
              <a:rPr lang="en-US" dirty="0" smtClean="0">
                <a:latin typeface="Segoe UI" panose="020B0502040204020203" pitchFamily="34" charset="0"/>
                <a:cs typeface="Segoe UI" panose="020B0502040204020203" pitchFamily="34" charset="0"/>
              </a:rPr>
              <a:t>”]</a:t>
            </a:r>
          </a:p>
          <a:p>
            <a:r>
              <a:rPr lang="en-US" dirty="0">
                <a:latin typeface="Segoe UI" panose="020B0502040204020203" pitchFamily="34" charset="0"/>
                <a:cs typeface="Segoe UI" panose="020B0502040204020203" pitchFamily="34" charset="0"/>
              </a:rPr>
              <a:t> </a:t>
            </a:r>
            <a:r>
              <a:rPr lang="en-US" dirty="0" smtClean="0">
                <a:latin typeface="Segoe UI" panose="020B0502040204020203" pitchFamily="34" charset="0"/>
                <a:cs typeface="Segoe UI" panose="020B0502040204020203" pitchFamily="34" charset="0"/>
              </a:rPr>
              <a:t>   </a:t>
            </a:r>
          </a:p>
          <a:p>
            <a:r>
              <a:rPr lang="en-US" dirty="0" smtClean="0">
                <a:latin typeface="Segoe UI" panose="020B0502040204020203" pitchFamily="34" charset="0"/>
                <a:cs typeface="Segoe UI" panose="020B0502040204020203" pitchFamily="34" charset="0"/>
              </a:rPr>
              <a:t>Numbers = [10,20,30,40]</a:t>
            </a:r>
          </a:p>
          <a:p>
            <a:r>
              <a:rPr lang="en-US" dirty="0">
                <a:latin typeface="Segoe UI" panose="020B0502040204020203" pitchFamily="34" charset="0"/>
                <a:cs typeface="Segoe UI" panose="020B0502040204020203" pitchFamily="34" charset="0"/>
              </a:rPr>
              <a:t> </a:t>
            </a:r>
            <a:r>
              <a:rPr lang="en-US" dirty="0" smtClean="0">
                <a:latin typeface="Segoe UI" panose="020B0502040204020203" pitchFamily="34" charset="0"/>
                <a:cs typeface="Segoe UI" panose="020B0502040204020203" pitchFamily="34" charset="0"/>
              </a:rPr>
              <a:t> </a:t>
            </a:r>
          </a:p>
          <a:p>
            <a:r>
              <a:rPr lang="en-US" dirty="0" smtClean="0">
                <a:latin typeface="Segoe UI" panose="020B0502040204020203" pitchFamily="34" charset="0"/>
                <a:cs typeface="Segoe UI" panose="020B0502040204020203" pitchFamily="34" charset="0"/>
              </a:rPr>
              <a:t>Mixed = [10 , “hello” , 3.5]</a:t>
            </a:r>
          </a:p>
        </p:txBody>
      </p:sp>
      <p:sp>
        <p:nvSpPr>
          <p:cNvPr id="7" name="TextBox 6">
            <a:extLst>
              <a:ext uri="{FF2B5EF4-FFF2-40B4-BE49-F238E27FC236}">
                <a16:creationId xmlns:a16="http://schemas.microsoft.com/office/drawing/2014/main" id="{E5564556-59F0-4D0A-A6CD-ADF8F4D7428B}"/>
              </a:ext>
            </a:extLst>
          </p:cNvPr>
          <p:cNvSpPr txBox="1"/>
          <p:nvPr/>
        </p:nvSpPr>
        <p:spPr>
          <a:xfrm>
            <a:off x="6873767" y="1271752"/>
            <a:ext cx="4927464" cy="3139321"/>
          </a:xfrm>
          <a:prstGeom prst="rect">
            <a:avLst/>
          </a:prstGeom>
          <a:noFill/>
        </p:spPr>
        <p:txBody>
          <a:bodyPr wrap="square" rtlCol="0">
            <a:spAutoFit/>
          </a:bodyPr>
          <a:lstStyle/>
          <a:p>
            <a:r>
              <a:rPr lang="en-US" dirty="0" smtClean="0">
                <a:latin typeface="Segoe UI" panose="020B0502040204020203" pitchFamily="34" charset="0"/>
                <a:cs typeface="Segoe UI" panose="020B0502040204020203" pitchFamily="34" charset="0"/>
              </a:rPr>
              <a:t>List items are ordered , changeable and allow duplicate values.</a:t>
            </a:r>
          </a:p>
          <a:p>
            <a:endParaRPr lang="en-US" dirty="0">
              <a:latin typeface="Segoe UI" panose="020B0502040204020203" pitchFamily="34" charset="0"/>
              <a:cs typeface="Segoe UI" panose="020B0502040204020203" pitchFamily="34" charset="0"/>
            </a:endParaRPr>
          </a:p>
          <a:p>
            <a:endParaRPr lang="en-US" dirty="0" smtClean="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a:p>
            <a:r>
              <a:rPr lang="en-US" dirty="0" smtClean="0">
                <a:latin typeface="Segoe UI" panose="020B0502040204020203" pitchFamily="34" charset="0"/>
                <a:cs typeface="Segoe UI" panose="020B0502040204020203" pitchFamily="34" charset="0"/>
              </a:rPr>
              <a:t>List items are indexed, the first item has index [0], the second item has index [1] and so on .</a:t>
            </a:r>
          </a:p>
          <a:p>
            <a:endParaRPr lang="en-US" dirty="0">
              <a:latin typeface="Segoe UI" panose="020B0502040204020203" pitchFamily="34" charset="0"/>
              <a:cs typeface="Segoe UI" panose="020B0502040204020203" pitchFamily="34" charset="0"/>
            </a:endParaRPr>
          </a:p>
          <a:p>
            <a:endParaRPr lang="en-US" dirty="0" smtClean="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p:txBody>
      </p:sp>
      <p:sp>
        <p:nvSpPr>
          <p:cNvPr id="8" name="Oval 7">
            <a:extLst>
              <a:ext uri="{FF2B5EF4-FFF2-40B4-BE49-F238E27FC236}">
                <a16:creationId xmlns:a16="http://schemas.microsoft.com/office/drawing/2014/main" id="{E5585411-DE61-42EC-8DAB-BA853F129791}"/>
              </a:ext>
            </a:extLst>
          </p:cNvPr>
          <p:cNvSpPr/>
          <p:nvPr/>
        </p:nvSpPr>
        <p:spPr>
          <a:xfrm>
            <a:off x="363331" y="1495136"/>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1</a:t>
            </a:r>
          </a:p>
        </p:txBody>
      </p:sp>
      <p:sp>
        <p:nvSpPr>
          <p:cNvPr id="9" name="Oval 8">
            <a:extLst>
              <a:ext uri="{FF2B5EF4-FFF2-40B4-BE49-F238E27FC236}">
                <a16:creationId xmlns:a16="http://schemas.microsoft.com/office/drawing/2014/main" id="{6D1E12A6-FA7A-477F-8C87-308C5B84B139}"/>
              </a:ext>
            </a:extLst>
          </p:cNvPr>
          <p:cNvSpPr/>
          <p:nvPr/>
        </p:nvSpPr>
        <p:spPr>
          <a:xfrm>
            <a:off x="5871444" y="1497701"/>
            <a:ext cx="718542" cy="7199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2</a:t>
            </a:r>
          </a:p>
        </p:txBody>
      </p:sp>
    </p:spTree>
    <p:extLst>
      <p:ext uri="{BB962C8B-B14F-4D97-AF65-F5344CB8AC3E}">
        <p14:creationId xmlns:p14="http://schemas.microsoft.com/office/powerpoint/2010/main" val="15349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arn(inVertical)">
                                      <p:cBhvr>
                                        <p:cTn id="12" dur="500"/>
                                        <p:tgtEl>
                                          <p:spTgt spid="5">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barn(inVertical)">
                                      <p:cBhvr>
                                        <p:cTn id="1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hidden="1">
            <a:extLst>
              <a:ext uri="{FF2B5EF4-FFF2-40B4-BE49-F238E27FC236}">
                <a16:creationId xmlns:a16="http://schemas.microsoft.com/office/drawing/2014/main" id="{64BD0A42-B011-4DBF-B5CD-6718A97E3C70}"/>
              </a:ext>
            </a:extLst>
          </p:cNvPr>
          <p:cNvSpPr>
            <a:spLocks noGrp="1"/>
          </p:cNvSpPr>
          <p:nvPr>
            <p:ph type="title"/>
          </p:nvPr>
        </p:nvSpPr>
        <p:spPr/>
        <p:txBody>
          <a:bodyPr/>
          <a:lstStyle/>
          <a:p>
            <a:r>
              <a:rPr lang="en-US" dirty="0"/>
              <a:t>Slide 3</a:t>
            </a:r>
          </a:p>
        </p:txBody>
      </p:sp>
      <p:sp>
        <p:nvSpPr>
          <p:cNvPr id="3" name="TextBox 2">
            <a:extLst>
              <a:ext uri="{FF2B5EF4-FFF2-40B4-BE49-F238E27FC236}">
                <a16:creationId xmlns:a16="http://schemas.microsoft.com/office/drawing/2014/main" id="{4F08F965-B293-47B3-B684-4631A57C9685}"/>
              </a:ext>
            </a:extLst>
          </p:cNvPr>
          <p:cNvSpPr txBox="1"/>
          <p:nvPr/>
        </p:nvSpPr>
        <p:spPr>
          <a:xfrm>
            <a:off x="987973" y="500365"/>
            <a:ext cx="9469820" cy="4770537"/>
          </a:xfrm>
          <a:prstGeom prst="rect">
            <a:avLst/>
          </a:prstGeom>
          <a:noFill/>
        </p:spPr>
        <p:txBody>
          <a:bodyPr wrap="square" rtlCol="0">
            <a:spAutoFit/>
          </a:bodyPr>
          <a:lstStyle/>
          <a:p>
            <a:r>
              <a:rPr lang="en-US" sz="3200" i="1" dirty="0" smtClean="0">
                <a:solidFill>
                  <a:schemeClr val="accent3">
                    <a:lumMod val="60000"/>
                    <a:lumOff val="40000"/>
                  </a:schemeClr>
                </a:solidFill>
                <a:latin typeface="Segoe UI" panose="020B0502040204020203" pitchFamily="34" charset="0"/>
                <a:cs typeface="Segoe UI" panose="020B0502040204020203" pitchFamily="34" charset="0"/>
              </a:rPr>
              <a:t>IMPORTANT FEATURES :</a:t>
            </a:r>
          </a:p>
          <a:p>
            <a:endParaRPr lang="en-US" sz="1600" dirty="0" smtClean="0">
              <a:latin typeface="Segoe UI" panose="020B0502040204020203" pitchFamily="34" charset="0"/>
              <a:cs typeface="Segoe UI" panose="020B0502040204020203" pitchFamily="34" charset="0"/>
            </a:endParaRPr>
          </a:p>
          <a:p>
            <a:pPr marL="285750" indent="-285750">
              <a:buFont typeface="Wingdings" panose="05000000000000000000" pitchFamily="2" charset="2"/>
              <a:buChar char="Ø"/>
            </a:pPr>
            <a:r>
              <a:rPr lang="en-US" sz="1600" dirty="0">
                <a:latin typeface="Segoe UI" panose="020B0502040204020203" pitchFamily="34" charset="0"/>
                <a:cs typeface="Segoe UI" panose="020B0502040204020203" pitchFamily="34" charset="0"/>
              </a:rPr>
              <a:t> </a:t>
            </a:r>
            <a:r>
              <a:rPr lang="en-US" sz="1600" dirty="0" smtClean="0">
                <a:latin typeface="Segoe UI" panose="020B0502040204020203" pitchFamily="34" charset="0"/>
                <a:cs typeface="Segoe UI" panose="020B0502040204020203" pitchFamily="34" charset="0"/>
              </a:rPr>
              <a:t>ORDERED – items have a fixed position </a:t>
            </a:r>
          </a:p>
          <a:p>
            <a:pPr marL="285750" indent="-285750">
              <a:buFont typeface="Wingdings" panose="05000000000000000000" pitchFamily="2" charset="2"/>
              <a:buChar char="Ø"/>
            </a:pPr>
            <a:r>
              <a:rPr lang="en-US" sz="1600" dirty="0">
                <a:latin typeface="Segoe UI" panose="020B0502040204020203" pitchFamily="34" charset="0"/>
                <a:cs typeface="Segoe UI" panose="020B0502040204020203" pitchFamily="34" charset="0"/>
              </a:rPr>
              <a:t> </a:t>
            </a:r>
            <a:r>
              <a:rPr lang="en-US" sz="1600" dirty="0" smtClean="0">
                <a:latin typeface="Segoe UI" panose="020B0502040204020203" pitchFamily="34" charset="0"/>
                <a:cs typeface="Segoe UI" panose="020B0502040204020203" pitchFamily="34" charset="0"/>
              </a:rPr>
              <a:t>MUTABLE – you can  add , remove , or change items </a:t>
            </a:r>
          </a:p>
          <a:p>
            <a:pPr marL="285750" indent="-285750">
              <a:buFont typeface="Wingdings" panose="05000000000000000000" pitchFamily="2" charset="2"/>
              <a:buChar char="Ø"/>
            </a:pPr>
            <a:r>
              <a:rPr lang="en-US" sz="1600" dirty="0">
                <a:latin typeface="Segoe UI" panose="020B0502040204020203" pitchFamily="34" charset="0"/>
                <a:cs typeface="Segoe UI" panose="020B0502040204020203" pitchFamily="34" charset="0"/>
              </a:rPr>
              <a:t> </a:t>
            </a:r>
            <a:r>
              <a:rPr lang="en-US" sz="1600" dirty="0" smtClean="0">
                <a:latin typeface="Segoe UI" panose="020B0502040204020203" pitchFamily="34" charset="0"/>
                <a:cs typeface="Segoe UI" panose="020B0502040204020203" pitchFamily="34" charset="0"/>
              </a:rPr>
              <a:t>ALLOWS DUPLICATES </a:t>
            </a:r>
          </a:p>
          <a:p>
            <a:pPr marL="285750" indent="-285750">
              <a:buFont typeface="Wingdings" panose="05000000000000000000" pitchFamily="2" charset="2"/>
              <a:buChar char="Ø"/>
            </a:pPr>
            <a:r>
              <a:rPr lang="en-US" sz="1600" dirty="0">
                <a:latin typeface="Segoe UI" panose="020B0502040204020203" pitchFamily="34" charset="0"/>
                <a:cs typeface="Segoe UI" panose="020B0502040204020203" pitchFamily="34" charset="0"/>
              </a:rPr>
              <a:t> </a:t>
            </a:r>
            <a:r>
              <a:rPr lang="en-US" sz="1600" dirty="0" smtClean="0">
                <a:latin typeface="Segoe UI" panose="020B0502040204020203" pitchFamily="34" charset="0"/>
                <a:cs typeface="Segoe UI" panose="020B0502040204020203" pitchFamily="34" charset="0"/>
              </a:rPr>
              <a:t>can store different data types</a:t>
            </a:r>
          </a:p>
          <a:p>
            <a:endParaRPr lang="en-US" sz="1600" dirty="0">
              <a:latin typeface="Segoe UI" panose="020B0502040204020203" pitchFamily="34" charset="0"/>
              <a:cs typeface="Segoe UI" panose="020B0502040204020203" pitchFamily="34" charset="0"/>
            </a:endParaRPr>
          </a:p>
          <a:p>
            <a:endParaRPr lang="en-US" sz="1600" dirty="0" smtClean="0">
              <a:latin typeface="Segoe UI" panose="020B0502040204020203" pitchFamily="34" charset="0"/>
              <a:cs typeface="Segoe UI" panose="020B0502040204020203" pitchFamily="34" charset="0"/>
            </a:endParaRPr>
          </a:p>
          <a:p>
            <a:r>
              <a:rPr lang="en-US" sz="3200" i="1" dirty="0">
                <a:latin typeface="Segoe UI" panose="020B0502040204020203" pitchFamily="34" charset="0"/>
                <a:cs typeface="Segoe UI" panose="020B0502040204020203" pitchFamily="34" charset="0"/>
              </a:rPr>
              <a:t> </a:t>
            </a:r>
            <a:r>
              <a:rPr lang="en-US" sz="3200" i="1" dirty="0" smtClean="0">
                <a:solidFill>
                  <a:schemeClr val="accent3">
                    <a:lumMod val="60000"/>
                    <a:lumOff val="40000"/>
                  </a:schemeClr>
                </a:solidFill>
                <a:latin typeface="Segoe UI" panose="020B0502040204020203" pitchFamily="34" charset="0"/>
                <a:cs typeface="Segoe UI" panose="020B0502040204020203" pitchFamily="34" charset="0"/>
              </a:rPr>
              <a:t>COMMON LIST OPERATIONS :</a:t>
            </a:r>
          </a:p>
          <a:p>
            <a:endParaRPr lang="en-US" sz="3200" i="1" dirty="0">
              <a:latin typeface="Segoe UI" panose="020B0502040204020203" pitchFamily="34" charset="0"/>
              <a:cs typeface="Segoe UI" panose="020B0502040204020203" pitchFamily="34" charset="0"/>
            </a:endParaRPr>
          </a:p>
          <a:p>
            <a:pPr marL="285750" indent="-285750">
              <a:buFont typeface="Wingdings" panose="05000000000000000000" pitchFamily="2" charset="2"/>
              <a:buChar char="q"/>
            </a:pPr>
            <a:r>
              <a:rPr lang="en-US" sz="1600" dirty="0" smtClean="0">
                <a:latin typeface="Segoe UI" panose="020B0502040204020203" pitchFamily="34" charset="0"/>
                <a:cs typeface="Segoe UI" panose="020B0502040204020203" pitchFamily="34" charset="0"/>
              </a:rPr>
              <a:t> ACCESS ELEMENT</a:t>
            </a:r>
          </a:p>
          <a:p>
            <a:pPr marL="285750" indent="-285750">
              <a:buFont typeface="Wingdings" panose="05000000000000000000" pitchFamily="2" charset="2"/>
              <a:buChar char="q"/>
            </a:pPr>
            <a:r>
              <a:rPr lang="en-US" sz="1600" dirty="0">
                <a:latin typeface="Segoe UI" panose="020B0502040204020203" pitchFamily="34" charset="0"/>
                <a:cs typeface="Segoe UI" panose="020B0502040204020203" pitchFamily="34" charset="0"/>
              </a:rPr>
              <a:t> </a:t>
            </a:r>
            <a:r>
              <a:rPr lang="en-US" sz="1600" dirty="0" smtClean="0">
                <a:latin typeface="Segoe UI" panose="020B0502040204020203" pitchFamily="34" charset="0"/>
                <a:cs typeface="Segoe UI" panose="020B0502040204020203" pitchFamily="34" charset="0"/>
              </a:rPr>
              <a:t>MODIFY ELEMENT </a:t>
            </a:r>
          </a:p>
          <a:p>
            <a:pPr marL="285750" indent="-285750">
              <a:buFont typeface="Wingdings" panose="05000000000000000000" pitchFamily="2" charset="2"/>
              <a:buChar char="q"/>
            </a:pPr>
            <a:r>
              <a:rPr lang="en-US" sz="1600" dirty="0">
                <a:latin typeface="Segoe UI" panose="020B0502040204020203" pitchFamily="34" charset="0"/>
                <a:cs typeface="Segoe UI" panose="020B0502040204020203" pitchFamily="34" charset="0"/>
              </a:rPr>
              <a:t> </a:t>
            </a:r>
            <a:r>
              <a:rPr lang="en-US" sz="1600" dirty="0" smtClean="0">
                <a:latin typeface="Segoe UI" panose="020B0502040204020203" pitchFamily="34" charset="0"/>
                <a:cs typeface="Segoe UI" panose="020B0502040204020203" pitchFamily="34" charset="0"/>
              </a:rPr>
              <a:t>ADD ELEMENT </a:t>
            </a:r>
          </a:p>
          <a:p>
            <a:pPr marL="285750" indent="-285750">
              <a:buFont typeface="Wingdings" panose="05000000000000000000" pitchFamily="2" charset="2"/>
              <a:buChar char="q"/>
            </a:pPr>
            <a:r>
              <a:rPr lang="en-US" sz="1600" dirty="0">
                <a:latin typeface="Segoe UI" panose="020B0502040204020203" pitchFamily="34" charset="0"/>
                <a:cs typeface="Segoe UI" panose="020B0502040204020203" pitchFamily="34" charset="0"/>
              </a:rPr>
              <a:t> </a:t>
            </a:r>
            <a:r>
              <a:rPr lang="en-US" sz="1600" dirty="0" smtClean="0">
                <a:latin typeface="Segoe UI" panose="020B0502040204020203" pitchFamily="34" charset="0"/>
                <a:cs typeface="Segoe UI" panose="020B0502040204020203" pitchFamily="34" charset="0"/>
              </a:rPr>
              <a:t>REMOVE ITEMS </a:t>
            </a:r>
          </a:p>
          <a:p>
            <a:pPr marL="285750" indent="-285750">
              <a:buFont typeface="Wingdings" panose="05000000000000000000" pitchFamily="2" charset="2"/>
              <a:buChar char="q"/>
            </a:pPr>
            <a:r>
              <a:rPr lang="en-US" sz="1600" dirty="0" smtClean="0">
                <a:latin typeface="Segoe UI" panose="020B0502040204020203" pitchFamily="34" charset="0"/>
                <a:cs typeface="Segoe UI" panose="020B0502040204020203" pitchFamily="34" charset="0"/>
              </a:rPr>
              <a:t> LENGTH OF LIST </a:t>
            </a:r>
          </a:p>
          <a:p>
            <a:pPr marL="285750" indent="-285750">
              <a:buFont typeface="Wingdings" panose="05000000000000000000" pitchFamily="2" charset="2"/>
              <a:buChar char="q"/>
            </a:pPr>
            <a:endParaRPr lang="en-US" sz="1600" dirty="0">
              <a:latin typeface="Segoe UI" panose="020B0502040204020203" pitchFamily="34" charset="0"/>
              <a:cs typeface="Segoe UI" panose="020B0502040204020203" pitchFamily="34" charset="0"/>
            </a:endParaRPr>
          </a:p>
        </p:txBody>
      </p:sp>
      <p:sp>
        <p:nvSpPr>
          <p:cNvPr id="7" name="Oval 6">
            <a:extLst>
              <a:ext uri="{FF2B5EF4-FFF2-40B4-BE49-F238E27FC236}">
                <a16:creationId xmlns:a16="http://schemas.microsoft.com/office/drawing/2014/main" id="{80E468E0-1E2D-4439-A9A0-6DAD141DA9B9}"/>
              </a:ext>
            </a:extLst>
          </p:cNvPr>
          <p:cNvSpPr/>
          <p:nvPr/>
        </p:nvSpPr>
        <p:spPr>
          <a:xfrm>
            <a:off x="257908" y="212395"/>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3</a:t>
            </a:r>
          </a:p>
        </p:txBody>
      </p:sp>
    </p:spTree>
    <p:extLst>
      <p:ext uri="{BB962C8B-B14F-4D97-AF65-F5344CB8AC3E}">
        <p14:creationId xmlns:p14="http://schemas.microsoft.com/office/powerpoint/2010/main" val="212758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824771" y="16723"/>
            <a:ext cx="7212607" cy="2001263"/>
          </a:xfrm>
        </p:spPr>
        <p:txBody>
          <a:bodyPr anchor="ctr">
            <a:normAutofit/>
          </a:bodyPr>
          <a:lstStyle/>
          <a:p>
            <a:r>
              <a:rPr lang="en-US" sz="5400" b="1" u="sng" dirty="0" smtClean="0">
                <a:solidFill>
                  <a:schemeClr val="accent3">
                    <a:lumMod val="40000"/>
                    <a:lumOff val="60000"/>
                  </a:schemeClr>
                </a:solidFill>
                <a:latin typeface="Franklin Gothic Book" panose="020B0503020102020204" pitchFamily="34" charset="0"/>
                <a:cs typeface="Segoe UI" panose="020B0502040204020203" pitchFamily="34" charset="0"/>
              </a:rPr>
              <a:t>LIST OPERATIONS</a:t>
            </a:r>
            <a:endParaRPr lang="en-US" sz="5400" b="1" u="sng" dirty="0">
              <a:solidFill>
                <a:schemeClr val="accent3">
                  <a:lumMod val="40000"/>
                  <a:lumOff val="60000"/>
                </a:schemeClr>
              </a:solidFill>
              <a:latin typeface="Franklin Gothic Book" panose="020B0503020102020204"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81072FAC-EEE9-4F26-A784-BC07EACCBE9F}"/>
              </a:ext>
            </a:extLst>
          </p:cNvPr>
          <p:cNvSpPr>
            <a:spLocks noGrp="1"/>
          </p:cNvSpPr>
          <p:nvPr>
            <p:ph idx="1"/>
          </p:nvPr>
        </p:nvSpPr>
        <p:spPr>
          <a:xfrm>
            <a:off x="1397876" y="1881352"/>
            <a:ext cx="9795641" cy="4561488"/>
          </a:xfrm>
        </p:spPr>
        <p:txBody>
          <a:bodyPr vert="horz" lIns="91440" tIns="45720" rIns="91440" bIns="45720" rtlCol="0" anchor="t">
            <a:normAutofit fontScale="85000" lnSpcReduction="20000"/>
          </a:bodyPr>
          <a:lstStyle/>
          <a:p>
            <a:r>
              <a:rPr lang="en-US" dirty="0" smtClean="0">
                <a:latin typeface="Segoe UI" panose="020B0502040204020203" pitchFamily="34" charset="0"/>
                <a:cs typeface="Segoe UI" panose="020B0502040204020203" pitchFamily="34" charset="0"/>
              </a:rPr>
              <a:t>Fruits = [“ banana “ , “apple” , “mango” ]                           </a:t>
            </a:r>
          </a:p>
          <a:p>
            <a:r>
              <a:rPr lang="en-US" sz="2000" dirty="0">
                <a:latin typeface="Segoe UI" panose="020B0502040204020203" pitchFamily="34" charset="0"/>
                <a:cs typeface="Segoe UI" panose="020B0502040204020203" pitchFamily="34" charset="0"/>
              </a:rPr>
              <a:t> </a:t>
            </a:r>
            <a:r>
              <a:rPr lang="en-US" sz="2000" dirty="0" smtClean="0">
                <a:latin typeface="Segoe UI" panose="020B0502040204020203" pitchFamily="34" charset="0"/>
                <a:cs typeface="Segoe UI" panose="020B0502040204020203" pitchFamily="34" charset="0"/>
              </a:rPr>
              <a:t>print(fruits[1])                # apple                                             </a:t>
            </a:r>
          </a:p>
          <a:p>
            <a:r>
              <a:rPr lang="en-US" dirty="0" smtClean="0">
                <a:latin typeface="Segoe UI" panose="020B0502040204020203" pitchFamily="34" charset="0"/>
                <a:cs typeface="Segoe UI" panose="020B0502040204020203" pitchFamily="34" charset="0"/>
              </a:rPr>
              <a:t>Print(fruits[-1])               # mango    </a:t>
            </a:r>
          </a:p>
          <a:p>
            <a:pPr marL="36900" indent="0">
              <a:buNone/>
            </a:pPr>
            <a:r>
              <a:rPr lang="en-US" dirty="0" smtClean="0">
                <a:latin typeface="Segoe UI" panose="020B0502040204020203" pitchFamily="34" charset="0"/>
                <a:cs typeface="Segoe UI" panose="020B0502040204020203" pitchFamily="34" charset="0"/>
              </a:rPr>
              <a:t>                                 </a:t>
            </a:r>
          </a:p>
          <a:p>
            <a:r>
              <a:rPr lang="en-US" dirty="0" smtClean="0">
                <a:latin typeface="Segoe UI" panose="020B0502040204020203" pitchFamily="34" charset="0"/>
                <a:cs typeface="Segoe UI" panose="020B0502040204020203" pitchFamily="34" charset="0"/>
              </a:rPr>
              <a:t> ACCESSING ITEMS </a:t>
            </a:r>
          </a:p>
          <a:p>
            <a:r>
              <a:rPr lang="en-US" sz="2000" dirty="0" smtClean="0">
                <a:latin typeface="Segoe UI" panose="020B0502040204020203" pitchFamily="34" charset="0"/>
                <a:cs typeface="Segoe UI" panose="020B0502040204020203" pitchFamily="34" charset="0"/>
              </a:rPr>
              <a:t>CHANGING ITEMS </a:t>
            </a:r>
          </a:p>
          <a:p>
            <a:r>
              <a:rPr lang="en-US" dirty="0" smtClean="0">
                <a:latin typeface="Segoe UI" panose="020B0502040204020203" pitchFamily="34" charset="0"/>
                <a:cs typeface="Segoe UI" panose="020B0502040204020203" pitchFamily="34" charset="0"/>
              </a:rPr>
              <a:t>ADDING ITEMS </a:t>
            </a:r>
          </a:p>
          <a:p>
            <a:pPr>
              <a:buFont typeface="Arial" panose="020B0604020202020204" pitchFamily="34" charset="0"/>
              <a:buChar char="•"/>
            </a:pPr>
            <a:r>
              <a:rPr lang="en-US" dirty="0" smtClean="0">
                <a:solidFill>
                  <a:schemeClr val="accent5">
                    <a:lumMod val="60000"/>
                    <a:lumOff val="40000"/>
                  </a:schemeClr>
                </a:solidFill>
                <a:latin typeface="Segoe UI" panose="020B0502040204020203" pitchFamily="34" charset="0"/>
                <a:cs typeface="Segoe UI" panose="020B0502040204020203" pitchFamily="34" charset="0"/>
              </a:rPr>
              <a:t>append()</a:t>
            </a:r>
          </a:p>
          <a:p>
            <a:pPr>
              <a:buFont typeface="Arial" panose="020B0604020202020204" pitchFamily="34" charset="0"/>
              <a:buChar char="•"/>
            </a:pPr>
            <a:r>
              <a:rPr lang="en-US" dirty="0" smtClean="0">
                <a:solidFill>
                  <a:schemeClr val="accent5">
                    <a:lumMod val="60000"/>
                    <a:lumOff val="40000"/>
                  </a:schemeClr>
                </a:solidFill>
                <a:latin typeface="Segoe UI" panose="020B0502040204020203" pitchFamily="34" charset="0"/>
                <a:cs typeface="Segoe UI" panose="020B0502040204020203" pitchFamily="34" charset="0"/>
              </a:rPr>
              <a:t>Insert()</a:t>
            </a:r>
          </a:p>
          <a:p>
            <a:r>
              <a:rPr lang="en-US" sz="2000" dirty="0" smtClean="0">
                <a:latin typeface="Segoe UI" panose="020B0502040204020203" pitchFamily="34" charset="0"/>
                <a:cs typeface="Segoe UI" panose="020B0502040204020203" pitchFamily="34" charset="0"/>
              </a:rPr>
              <a:t>REMOVING ITEMS </a:t>
            </a:r>
          </a:p>
          <a:p>
            <a:pPr>
              <a:buFont typeface="Arial" panose="020B0604020202020204" pitchFamily="34" charset="0"/>
              <a:buChar char="•"/>
            </a:pPr>
            <a:r>
              <a:rPr lang="en-US" dirty="0" smtClean="0">
                <a:solidFill>
                  <a:schemeClr val="accent5">
                    <a:lumMod val="60000"/>
                    <a:lumOff val="40000"/>
                  </a:schemeClr>
                </a:solidFill>
                <a:latin typeface="Segoe UI" panose="020B0502040204020203" pitchFamily="34" charset="0"/>
                <a:cs typeface="Segoe UI" panose="020B0502040204020203" pitchFamily="34" charset="0"/>
              </a:rPr>
              <a:t>Remove()</a:t>
            </a:r>
          </a:p>
          <a:p>
            <a:pPr>
              <a:buFont typeface="Arial" panose="020B0604020202020204" pitchFamily="34" charset="0"/>
              <a:buChar char="•"/>
            </a:pPr>
            <a:r>
              <a:rPr lang="en-US" sz="2000" dirty="0" smtClean="0">
                <a:solidFill>
                  <a:schemeClr val="accent5">
                    <a:lumMod val="60000"/>
                    <a:lumOff val="40000"/>
                  </a:schemeClr>
                </a:solidFill>
                <a:latin typeface="Segoe UI" panose="020B0502040204020203" pitchFamily="34" charset="0"/>
                <a:cs typeface="Segoe UI" panose="020B0502040204020203" pitchFamily="34" charset="0"/>
              </a:rPr>
              <a:t>Pop()</a:t>
            </a:r>
          </a:p>
          <a:p>
            <a:pPr>
              <a:buFont typeface="Arial" panose="020B0604020202020204" pitchFamily="34" charset="0"/>
              <a:buChar char="•"/>
            </a:pPr>
            <a:r>
              <a:rPr lang="en-US" dirty="0" smtClean="0">
                <a:solidFill>
                  <a:schemeClr val="accent5">
                    <a:lumMod val="60000"/>
                    <a:lumOff val="40000"/>
                  </a:schemeClr>
                </a:solidFill>
                <a:latin typeface="Segoe UI" panose="020B0502040204020203" pitchFamily="34" charset="0"/>
                <a:cs typeface="Segoe UI" panose="020B0502040204020203" pitchFamily="34" charset="0"/>
              </a:rPr>
              <a:t>Del</a:t>
            </a:r>
          </a:p>
          <a:p>
            <a:pPr>
              <a:buFont typeface="Arial" panose="020B0604020202020204" pitchFamily="34" charset="0"/>
              <a:buChar char="•"/>
            </a:pPr>
            <a:endParaRPr lang="en-US" sz="2000" dirty="0" smtClean="0">
              <a:latin typeface="Segoe UI" panose="020B0502040204020203" pitchFamily="34" charset="0"/>
              <a:cs typeface="Segoe UI" panose="020B0502040204020203" pitchFamily="34" charset="0"/>
            </a:endParaRPr>
          </a:p>
          <a:p>
            <a:endParaRPr lang="en-US" sz="2000" dirty="0">
              <a:latin typeface="Segoe UI" panose="020B0502040204020203" pitchFamily="34" charset="0"/>
              <a:cs typeface="Segoe UI" panose="020B0502040204020203" pitchFamily="34" charset="0"/>
            </a:endParaRPr>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806669" y="389408"/>
            <a:ext cx="1097280" cy="1097280"/>
          </a:xfrm>
          <a:prstGeom prst="rect">
            <a:avLst/>
          </a:prstGeom>
        </p:spPr>
      </p:pic>
    </p:spTree>
    <p:extLst>
      <p:ext uri="{BB962C8B-B14F-4D97-AF65-F5344CB8AC3E}">
        <p14:creationId xmlns:p14="http://schemas.microsoft.com/office/powerpoint/2010/main" val="381659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8CF1-C72A-4313-8FC7-BF6DD4642AFE}"/>
              </a:ext>
            </a:extLst>
          </p:cNvPr>
          <p:cNvSpPr>
            <a:spLocks noGrp="1"/>
          </p:cNvSpPr>
          <p:nvPr>
            <p:ph type="title"/>
          </p:nvPr>
        </p:nvSpPr>
        <p:spPr>
          <a:xfrm>
            <a:off x="1261242" y="2507675"/>
            <a:ext cx="10205544" cy="1469965"/>
          </a:xfrm>
        </p:spPr>
        <p:txBody>
          <a:bodyPr anchor="ctr">
            <a:noAutofit/>
          </a:bodyPr>
          <a:lstStyle/>
          <a:p>
            <a:r>
              <a:rPr lang="en-US" sz="9600" b="1" i="1" dirty="0" smtClean="0">
                <a:solidFill>
                  <a:srgbClr val="00B050"/>
                </a:solidFill>
                <a:latin typeface="Franklin Gothic Book" panose="020B0503020102020204" pitchFamily="34" charset="0"/>
                <a:cs typeface="Segoe UI" panose="020B0502040204020203" pitchFamily="34" charset="0"/>
              </a:rPr>
              <a:t>THANK YOU …….</a:t>
            </a:r>
            <a:endParaRPr lang="en-US" sz="9600" b="1" i="1" dirty="0">
              <a:solidFill>
                <a:srgbClr val="00B050"/>
              </a:solidFill>
              <a:latin typeface="Franklin Gothic Book" panose="020B0503020102020204" pitchFamily="34" charset="0"/>
              <a:cs typeface="Segoe UI" panose="020B0502040204020203" pitchFamily="34" charset="0"/>
            </a:endParaRPr>
          </a:p>
        </p:txBody>
      </p:sp>
      <p:sp>
        <p:nvSpPr>
          <p:cNvPr id="6" name="Content Placeholder 5">
            <a:extLst>
              <a:ext uri="{FF2B5EF4-FFF2-40B4-BE49-F238E27FC236}">
                <a16:creationId xmlns:a16="http://schemas.microsoft.com/office/drawing/2014/main" id="{C856D755-2374-40B4-B692-603C5E927388}"/>
              </a:ext>
            </a:extLst>
          </p:cNvPr>
          <p:cNvSpPr>
            <a:spLocks noGrp="1"/>
          </p:cNvSpPr>
          <p:nvPr>
            <p:ph idx="1"/>
          </p:nvPr>
        </p:nvSpPr>
        <p:spPr>
          <a:xfrm>
            <a:off x="2407138" y="3884245"/>
            <a:ext cx="4923693" cy="2292717"/>
          </a:xfrm>
        </p:spPr>
        <p:txBody>
          <a:bodyPr vert="horz" lIns="91440" tIns="45720" rIns="91440" bIns="45720" rtlCol="0" anchor="t">
            <a:normAutofit/>
          </a:bodyPr>
          <a:lstStyle/>
          <a:p>
            <a:pPr marL="36900" indent="0">
              <a:buNone/>
            </a:pPr>
            <a:endParaRPr lang="en-US" sz="1800"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5148928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AB02E3-5ADF-4BF0-9C1B-35CDF3FE9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C7D9E6-B0D9-433E-BD46-EB60F64F4DA8}">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CA875DA-F9FD-4F83-A049-3B1027B542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TM04033929[[fn=Slate]]</Template>
  <TotalTime>0</TotalTime>
  <Words>481</Words>
  <Application>Microsoft Office PowerPoint</Application>
  <PresentationFormat>Widescreen</PresentationFormat>
  <Paragraphs>81</Paragraphs>
  <Slides>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Arial</vt:lpstr>
      <vt:lpstr>Calibri</vt:lpstr>
      <vt:lpstr>Calisto MT</vt:lpstr>
      <vt:lpstr>Franklin Gothic Book</vt:lpstr>
      <vt:lpstr>Segoe UI</vt:lpstr>
      <vt:lpstr>Trebuchet MS</vt:lpstr>
      <vt:lpstr>Wingdings</vt:lpstr>
      <vt:lpstr>Wingdings 2</vt:lpstr>
      <vt:lpstr>Slate</vt:lpstr>
      <vt:lpstr>list</vt:lpstr>
      <vt:lpstr>                                 LIST</vt:lpstr>
      <vt:lpstr>Slide 3</vt:lpstr>
      <vt:lpstr>LIST OPERATIONS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2025-12-02T04:27:19Z</dcterms:created>
  <dcterms:modified xsi:type="dcterms:W3CDTF">2025-12-02T05:20:06Z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